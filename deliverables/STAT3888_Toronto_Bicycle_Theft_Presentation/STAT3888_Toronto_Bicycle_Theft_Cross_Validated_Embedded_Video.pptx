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project asks when and where reported bicycle thefts concentrate in Toronto. The dataset contains 31,833 incidents across 140 neighbourhoods from January 2014 to December 2023. The monthly series shows a repeating annual pulse, and the boxplots confirm that this is not a single-year anomaly. July is the highest month on average at about 500 reports, whereas January and February average fewer than 80. This strong seasonality motivates a model that represents both smooth long-run change and recurring annual cycles.</a:t>
            </a:r>
          </a:p>
          <a:p/>
          <a:p>
            <a:r>
              <a:t>[Sources]</a:t>
            </a:r>
          </a:p>
          <a:p>
            <a:r>
              <a:t>Course-provided dataset: bicycle.csv</a:t>
            </a:r>
          </a:p>
          <a:p>
            <a:r>
              <a:t>Project audit: data_audit.csv</a:t>
            </a:r>
          </a:p>
          <a:p>
            <a:r>
              <a:t>Project figures: 01_monthly_trend.png; 02_seasonality.png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heatmap adds the space-time dimension: the highest-count neighbourhoods brighten during the same warm-season peaks, but the ordering is persistent. Waterfront Communities–The Island averages 27.6 thefts per month, followed by Bay Street Corridor at 22.4 and Church–Yonge Corridor at 20.0. Together, these three neighbourhoods account for 26.4 percent of all incidents. The high-contrast map shows the concentration of long-run hotspots, and the companion animation shows month-to-month evolution.</a:t>
            </a:r>
          </a:p>
          <a:p/>
          <a:p>
            <a:r>
              <a:t>[Sources]</a:t>
            </a:r>
          </a:p>
          <a:p>
            <a:r>
              <a:t>Project analysis: top_25_neighbourhood_hotspots.csv</a:t>
            </a:r>
          </a:p>
          <a:p>
            <a:r>
              <a:t>Project figures: 03b_neighbourhood_hotspot_map.png; 04_spacetime_heatmap.png</a:t>
            </a:r>
          </a:p>
          <a:p>
            <a:r>
              <a:t>Companion media: toronto_bicycle_theft_animation_2014_2023.mp4</a:t>
            </a:r>
          </a:p>
          <a:p>
            <a:r>
              <a:t>City of Toronto historical 140-neighbourhood boundaries: https://ckan0.cf.opendata.inter.prod-toronto.ca/dataset/fc443770-ef0a-4025-9c2c-2cb558bfab00/resource/9994da8e-5d35-438b-bfc4-eef14d09e035/download/neighbourhoods-historical-140-4326.geojson</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model remains linear after transforming predictors into basis functions. Cubic B-splines describe smooth long-term change, sine and cosine terms describe annual seasonality, sixteen radial basis functions describe spatial proximity, and neighbourhood indicators absorb persistent local differences. Ridge is tuned by rolling-origin cross-validation using five expanding-window folds: each fold trains only on earlier years and validates on the next year from 2018 through 2022. Every fold rebuilds its basis recipe from training data only. The lambda with the lowest mean validation RMSE is 0.0132. The final Ridge model is fitted on 2014 to 2022, while 2023 remains an untouched out-of-time test. Basis OLS remains the unpenalised Task 4 benchmark.</a:t>
            </a:r>
          </a:p>
          <a:p/>
          <a:p>
            <a:r>
              <a:t>[Sources]</a:t>
            </a:r>
          </a:p>
          <a:p>
            <a:r>
              <a:t>Project model script: R/03_model.R</a:t>
            </a:r>
          </a:p>
          <a:p>
            <a:r>
              <a:t>Project analysis: basis_metadata.csv; cross_validation_folds.csv; cross_validation_results.csv; model_metrics.csv</a:t>
            </a:r>
          </a:p>
          <a:p>
            <a:r>
              <a:t>Project figures: 05_basis_functions.png; 06_model_comparison.png; 09_rolling_cross_validation.png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On the untouched 2023 test set, the cross-validated Basis Ridge model achieves MAE 1.05, RMSE 1.98, and R-squared 0.774. Its RMSE is approximately 26.8 percent lower than the neighbourhood-mean baseline. The prediction line reproduces the seasonal rise and decline, but smooths the largest July-to-October peaks. The largest positive mean residuals remain in Church-Yonge Corridor, Bay Street Corridor, and Kensington-Chinatown, so local shocks are not fully explained by the basis representation. These results are predictive associations, not causal effects. The data contain reported incidents only and omit weather, cycling exposure, land use, and policing.</a:t>
            </a:r>
          </a:p>
          <a:p/>
          <a:p>
            <a:r>
              <a:t>[Sources]</a:t>
            </a:r>
          </a:p>
          <a:p>
            <a:r>
              <a:t>Project analysis: model_metrics.csv; test_predictions.csv</a:t>
            </a:r>
          </a:p>
          <a:p>
            <a:r>
              <a:t>Project figures: 07_observed_vs_predicted.png; 08_residual_map.png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tags" Target="../tags/tag1.xml"/><Relationship Id="rId6" Type="http://schemas.microsoft.com/office/2007/relationships/media" Target="../media/media1.mp4"/><Relationship Id="rId5" Type="http://schemas.openxmlformats.org/officeDocument/2006/relationships/video" Target="../media/media1.mp4"/><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slide-1-title"/>
          <p:cNvSpPr>
            <a:spLocks noGrp="1"/>
          </p:cNvSpPr>
          <p:nvPr/>
        </p:nvSpPr>
        <p:spPr>
          <a:xfrm>
            <a:off x="400050" y="257175"/>
            <a:ext cx="11391900" cy="552450"/>
          </a:xfrm>
          <a:prstGeom prst="rect">
            <a:avLst/>
          </a:prstGeom>
          <a:noFill/>
          <a:ln w="0">
            <a:noFill/>
            <a:prstDash val="solid"/>
          </a:ln>
        </p:spPr>
        <p:txBody>
          <a:bodyPr wrap="square" lIns="0" tIns="0" rIns="0" bIns="0" anchor="t">
            <a:noAutofit/>
          </a:bodyPr>
          <a:lstStyle/>
          <a:p>
            <a:pPr algn="l">
              <a:buNone/>
              <a:defRPr sz="3525" b="1">
                <a:solidFill>
                  <a:srgbClr val="111111"/>
                </a:solidFill>
                <a:latin typeface="Helvetica Neue" panose="02000503000000020004"/>
                <a:ea typeface="Helvetica Neue" panose="02000503000000020004"/>
                <a:cs typeface="Helvetica Neue" panose="02000503000000020004"/>
              </a:defRPr>
            </a:pPr>
            <a:r>
              <a:rPr sz="3525" b="1">
                <a:solidFill>
                  <a:srgbClr val="111111"/>
                </a:solidFill>
                <a:latin typeface="Helvetica Neue" panose="02000503000000020004"/>
                <a:ea typeface="Helvetica Neue" panose="02000503000000020004"/>
                <a:cs typeface="Helvetica Neue" panose="02000503000000020004"/>
              </a:rPr>
              <a:t>Toronto thefts peak in summer and downtown</a:t>
            </a:r>
            <a:endParaRPr sz="3525" b="1">
              <a:solidFill>
                <a:srgbClr val="111111"/>
              </a:solidFill>
              <a:latin typeface="Helvetica Neue" panose="02000503000000020004"/>
              <a:ea typeface="Helvetica Neue" panose="02000503000000020004"/>
              <a:cs typeface="Helvetica Neue" panose="02000503000000020004"/>
            </a:endParaRPr>
          </a:p>
        </p:txBody>
      </p:sp>
      <p:sp>
        <p:nvSpPr>
          <p:cNvPr id="2" name="slide-1-number"/>
          <p:cNvSpPr>
            <a:spLocks noGrp="1"/>
          </p:cNvSpPr>
          <p:nvPr/>
        </p:nvSpPr>
        <p:spPr>
          <a:xfrm>
            <a:off x="11334750" y="6496050"/>
            <a:ext cx="457200" cy="190500"/>
          </a:xfrm>
          <a:prstGeom prst="rect">
            <a:avLst/>
          </a:prstGeom>
          <a:noFill/>
          <a:ln w="0">
            <a:noFill/>
            <a:prstDash val="solid"/>
          </a:ln>
        </p:spPr>
        <p:txBody>
          <a:bodyPr wrap="square" lIns="0" tIns="0" rIns="0" bIns="0" anchor="b">
            <a:noAutofit/>
          </a:bodyPr>
          <a:lstStyle/>
          <a:p>
            <a:pPr algn="r">
              <a:buNone/>
              <a:defRPr sz="1050">
                <a:solidFill>
                  <a:srgbClr val="666666"/>
                </a:solidFill>
                <a:latin typeface="Helvetica Neue" panose="02000503000000020004"/>
                <a:ea typeface="Helvetica Neue" panose="02000503000000020004"/>
                <a:cs typeface="Helvetica Neue" panose="02000503000000020004"/>
              </a:defRPr>
            </a:pPr>
            <a:r>
              <a:rPr sz="1050">
                <a:solidFill>
                  <a:srgbClr val="666666"/>
                </a:solidFill>
                <a:latin typeface="Helvetica Neue" panose="02000503000000020004"/>
                <a:ea typeface="Helvetica Neue" panose="02000503000000020004"/>
                <a:cs typeface="Helvetica Neue" panose="02000503000000020004"/>
              </a:rPr>
              <a:t>1</a:t>
            </a:r>
            <a:endParaRPr sz="1050">
              <a:solidFill>
                <a:srgbClr val="666666"/>
              </a:solidFill>
              <a:latin typeface="Helvetica Neue" panose="02000503000000020004"/>
              <a:ea typeface="Helvetica Neue" panose="02000503000000020004"/>
              <a:cs typeface="Helvetica Neue" panose="02000503000000020004"/>
            </a:endParaRPr>
          </a:p>
        </p:txBody>
      </p:sp>
      <p:sp>
        <p:nvSpPr>
          <p:cNvPr id="3" name="slide-1-question"/>
          <p:cNvSpPr>
            <a:spLocks noGrp="1"/>
          </p:cNvSpPr>
          <p:nvPr/>
        </p:nvSpPr>
        <p:spPr>
          <a:xfrm>
            <a:off x="400050" y="847725"/>
            <a:ext cx="7524750" cy="285750"/>
          </a:xfrm>
          <a:prstGeom prst="rect">
            <a:avLst/>
          </a:prstGeom>
          <a:noFill/>
          <a:ln w="0">
            <a:noFill/>
            <a:prstDash val="solid"/>
          </a:ln>
        </p:spPr>
        <p:txBody>
          <a:bodyPr wrap="square" lIns="0" tIns="0" rIns="0" bIns="0" anchor="t">
            <a:noAutofit/>
          </a:bodyPr>
          <a:lstStyle/>
          <a:p>
            <a:pPr algn="l">
              <a:buNone/>
              <a:defRPr sz="1725">
                <a:solidFill>
                  <a:srgbClr val="425466"/>
                </a:solidFill>
                <a:latin typeface="Helvetica Neue" panose="02000503000000020004"/>
                <a:ea typeface="Helvetica Neue" panose="02000503000000020004"/>
                <a:cs typeface="Helvetica Neue" panose="02000503000000020004"/>
              </a:defRPr>
            </a:pPr>
            <a:r>
              <a:rPr sz="1725">
                <a:solidFill>
                  <a:srgbClr val="425466"/>
                </a:solidFill>
                <a:latin typeface="Helvetica Neue" panose="02000503000000020004"/>
                <a:ea typeface="Helvetica Neue" panose="02000503000000020004"/>
                <a:cs typeface="Helvetica Neue" panose="02000503000000020004"/>
              </a:rPr>
              <a:t>Name: ____________________    Student ID: ____________________</a:t>
            </a:r>
            <a:endParaRPr sz="1725">
              <a:solidFill>
                <a:srgbClr val="425466"/>
              </a:solidFill>
              <a:latin typeface="Helvetica Neue" panose="02000503000000020004"/>
              <a:ea typeface="Helvetica Neue" panose="02000503000000020004"/>
              <a:cs typeface="Helvetica Neue" panose="02000503000000020004"/>
            </a:endParaRPr>
          </a:p>
        </p:txBody>
      </p:sp>
      <p:sp>
        <p:nvSpPr>
          <p:cNvPr id="4" name="slide-1-data-strip"/>
          <p:cNvSpPr>
            <a:spLocks noGrp="1"/>
          </p:cNvSpPr>
          <p:nvPr/>
        </p:nvSpPr>
        <p:spPr>
          <a:xfrm>
            <a:off x="7667625" y="847725"/>
            <a:ext cx="4124325" cy="285750"/>
          </a:xfrm>
          <a:prstGeom prst="rect">
            <a:avLst/>
          </a:prstGeom>
          <a:noFill/>
          <a:ln w="0">
            <a:noFill/>
            <a:prstDash val="solid"/>
          </a:ln>
        </p:spPr>
        <p:txBody>
          <a:bodyPr wrap="square" lIns="0" tIns="0" rIns="0" bIns="0" anchor="t">
            <a:normAutofit/>
          </a:bodyPr>
          <a:lstStyle/>
          <a:p>
            <a:pPr algn="r">
              <a:buNone/>
              <a:defRPr sz="1350" b="1">
                <a:solidFill>
                  <a:srgbClr val="0B7479"/>
                </a:solidFill>
                <a:latin typeface="Helvetica Neue" panose="02000503000000020004"/>
                <a:ea typeface="Helvetica Neue" panose="02000503000000020004"/>
                <a:cs typeface="Helvetica Neue" panose="02000503000000020004"/>
              </a:defRPr>
            </a:pPr>
            <a:r>
              <a:rPr sz="1350" b="1">
                <a:solidFill>
                  <a:srgbClr val="0B7479"/>
                </a:solidFill>
                <a:latin typeface="Helvetica Neue" panose="02000503000000020004"/>
                <a:ea typeface="Helvetica Neue" panose="02000503000000020004"/>
                <a:cs typeface="Helvetica Neue" panose="02000503000000020004"/>
              </a:rPr>
              <a:t>31,833 incidents   ·   140 areas   ·   2014–2023</a:t>
            </a:r>
            <a:endParaRPr sz="1350" b="1">
              <a:solidFill>
                <a:srgbClr val="0B7479"/>
              </a:solidFill>
              <a:latin typeface="Helvetica Neue" panose="02000503000000020004"/>
              <a:ea typeface="Helvetica Neue" panose="02000503000000020004"/>
              <a:cs typeface="Helvetica Neue" panose="02000503000000020004"/>
            </a:endParaRPr>
          </a:p>
        </p:txBody>
      </p:sp>
      <p:sp>
        <p:nvSpPr>
          <p:cNvPr id="5" name="Monthly bicycle theft trend, 2014 to 2023-frame"/>
          <p:cNvSpPr>
            <a:spLocks noGrp="1"/>
          </p:cNvSpPr>
          <p:nvPr/>
        </p:nvSpPr>
        <p:spPr>
          <a:xfrm>
            <a:off x="390525" y="1295400"/>
            <a:ext cx="5562600" cy="3343275"/>
          </a:xfrm>
          <a:prstGeom prst="rect">
            <a:avLst/>
          </a:prstGeom>
          <a:solidFill>
            <a:srgbClr val="FFFFFF"/>
          </a:solidFill>
          <a:ln w="9525">
            <a:solidFill>
              <a:srgbClr val="DDDDDD"/>
            </a:solidFill>
            <a:prstDash val="solid"/>
          </a:ln>
        </p:spPr>
      </p:sp>
      <p:pic>
        <p:nvPicPr>
          <p:cNvPr id="20" name="图片 16"/>
          <p:cNvPicPr>
            <a:picLocks noChangeAspect="1"/>
          </p:cNvPicPr>
          <p:nvPr/>
        </p:nvPicPr>
        <p:blipFill>
          <a:blip r:embed="rId1"/>
          <a:stretch>
            <a:fillRect/>
          </a:stretch>
        </p:blipFill>
        <p:spPr>
          <a:xfrm>
            <a:off x="401637" y="1304925"/>
            <a:ext cx="5540375" cy="3324225"/>
          </a:xfrm>
          <a:prstGeom prst="rect">
            <a:avLst/>
          </a:prstGeom>
        </p:spPr>
      </p:pic>
      <p:sp>
        <p:nvSpPr>
          <p:cNvPr id="7" name="Seasonal distribution of bicycle thefts-frame"/>
          <p:cNvSpPr>
            <a:spLocks noGrp="1"/>
          </p:cNvSpPr>
          <p:nvPr/>
        </p:nvSpPr>
        <p:spPr>
          <a:xfrm>
            <a:off x="6238875" y="1295400"/>
            <a:ext cx="5562600" cy="3343275"/>
          </a:xfrm>
          <a:prstGeom prst="rect">
            <a:avLst/>
          </a:prstGeom>
          <a:solidFill>
            <a:srgbClr val="FFFFFF"/>
          </a:solidFill>
          <a:ln w="9525">
            <a:solidFill>
              <a:srgbClr val="DDDDDD"/>
            </a:solidFill>
            <a:prstDash val="solid"/>
          </a:ln>
        </p:spPr>
      </p:sp>
      <p:pic>
        <p:nvPicPr>
          <p:cNvPr id="22" name="图片 18"/>
          <p:cNvPicPr>
            <a:picLocks noChangeAspect="1"/>
          </p:cNvPicPr>
          <p:nvPr/>
        </p:nvPicPr>
        <p:blipFill>
          <a:blip r:embed="rId2"/>
          <a:stretch>
            <a:fillRect/>
          </a:stretch>
        </p:blipFill>
        <p:spPr>
          <a:xfrm>
            <a:off x="6249988" y="1304925"/>
            <a:ext cx="5540375" cy="3324225"/>
          </a:xfrm>
          <a:prstGeom prst="rect">
            <a:avLst/>
          </a:prstGeom>
        </p:spPr>
      </p:pic>
      <p:sp>
        <p:nvSpPr>
          <p:cNvPr id="9" name="slide-1-takeaway-background"/>
          <p:cNvSpPr>
            <a:spLocks noGrp="1"/>
          </p:cNvSpPr>
          <p:nvPr/>
        </p:nvSpPr>
        <p:spPr>
          <a:xfrm>
            <a:off x="400050" y="4857750"/>
            <a:ext cx="11391900" cy="1219200"/>
          </a:xfrm>
          <a:prstGeom prst="rect">
            <a:avLst/>
          </a:prstGeom>
        </p:spPr>
        <p:style>
          <a:lnRef idx="2">
            <a:schemeClr val="accent1"/>
          </a:lnRef>
          <a:fillRef idx="0">
            <a:srgbClr val="FFFFFF"/>
          </a:fillRef>
          <a:effectRef idx="0">
            <a:srgbClr val="FFFFFF"/>
          </a:effectRef>
          <a:fontRef idx="minor">
            <a:schemeClr val="tx1"/>
          </a:fontRef>
        </p:style>
        <p:txBody>
          <a:bodyPr/>
          <a:lstStyle/>
          <a:p/>
        </p:txBody>
      </p:sp>
      <p:sp>
        <p:nvSpPr>
          <p:cNvPr id="10" name="slide-1-takeaway-label"/>
          <p:cNvSpPr>
            <a:spLocks noGrp="1"/>
          </p:cNvSpPr>
          <p:nvPr/>
        </p:nvSpPr>
        <p:spPr>
          <a:xfrm>
            <a:off x="666750" y="5105400"/>
            <a:ext cx="2095500" cy="228600"/>
          </a:xfrm>
          <a:prstGeom prst="rect">
            <a:avLst/>
          </a:prstGeom>
          <a:noFill/>
          <a:ln w="0">
            <a:noFill/>
            <a:prstDash val="solid"/>
          </a:ln>
        </p:spPr>
        <p:txBody>
          <a:bodyPr wrap="square" lIns="0" tIns="0" rIns="0" bIns="0" anchor="t">
            <a:noAutofit/>
          </a:bodyPr>
          <a:lstStyle/>
          <a:p>
            <a:pPr algn="l">
              <a:buNone/>
              <a:defRPr sz="1275" b="1">
                <a:solidFill>
                  <a:srgbClr val="0B7479"/>
                </a:solidFill>
                <a:latin typeface="Helvetica Neue" panose="02000503000000020004"/>
                <a:ea typeface="Helvetica Neue" panose="02000503000000020004"/>
                <a:cs typeface="Helvetica Neue" panose="02000503000000020004"/>
              </a:defRPr>
            </a:pPr>
            <a:r>
              <a:rPr sz="1275" b="1">
                <a:solidFill>
                  <a:srgbClr val="0B7479"/>
                </a:solidFill>
                <a:latin typeface="Helvetica Neue" panose="02000503000000020004"/>
                <a:ea typeface="Helvetica Neue" panose="02000503000000020004"/>
                <a:cs typeface="Helvetica Neue" panose="02000503000000020004"/>
              </a:rPr>
              <a:t>TEMPORAL SIGNAL</a:t>
            </a:r>
            <a:endParaRPr sz="1275" b="1">
              <a:solidFill>
                <a:srgbClr val="0B7479"/>
              </a:solidFill>
              <a:latin typeface="Helvetica Neue" panose="02000503000000020004"/>
              <a:ea typeface="Helvetica Neue" panose="02000503000000020004"/>
              <a:cs typeface="Helvetica Neue" panose="02000503000000020004"/>
            </a:endParaRPr>
          </a:p>
        </p:txBody>
      </p:sp>
      <p:sp>
        <p:nvSpPr>
          <p:cNvPr id="11" name="slide-1-takeaway"/>
          <p:cNvSpPr>
            <a:spLocks noGrp="1"/>
          </p:cNvSpPr>
          <p:nvPr/>
        </p:nvSpPr>
        <p:spPr>
          <a:xfrm>
            <a:off x="666750" y="5410200"/>
            <a:ext cx="10572750" cy="457200"/>
          </a:xfrm>
          <a:prstGeom prst="rect">
            <a:avLst/>
          </a:prstGeom>
          <a:noFill/>
          <a:ln w="0">
            <a:noFill/>
            <a:prstDash val="solid"/>
          </a:ln>
        </p:spPr>
        <p:txBody>
          <a:bodyPr wrap="square" lIns="0" tIns="0" rIns="0" bIns="0" anchor="t">
            <a:normAutofit fontScale="74074"/>
          </a:bodyPr>
          <a:lstStyle/>
          <a:p>
            <a:pPr algn="l">
              <a:buNone/>
              <a:defRPr sz="2025" b="1">
                <a:solidFill>
                  <a:srgbClr val="111111"/>
                </a:solidFill>
                <a:latin typeface="Helvetica Neue" panose="02000503000000020004"/>
                <a:ea typeface="Helvetica Neue" panose="02000503000000020004"/>
                <a:cs typeface="Helvetica Neue" panose="02000503000000020004"/>
              </a:defRPr>
            </a:pPr>
            <a:r>
              <a:rPr sz="2025" b="1">
                <a:solidFill>
                  <a:srgbClr val="111111"/>
                </a:solidFill>
                <a:latin typeface="Helvetica Neue" panose="02000503000000020004"/>
                <a:ea typeface="Helvetica Neue" panose="02000503000000020004"/>
                <a:cs typeface="Helvetica Neue" panose="02000503000000020004"/>
              </a:rPr>
              <a:t>Reported bicycle thefts show strong seasonality: July has the highest average count, while winter months remain below 100 incidents.</a:t>
            </a:r>
            <a:endParaRPr sz="2025" b="1">
              <a:solidFill>
                <a:srgbClr val="111111"/>
              </a:solidFill>
              <a:latin typeface="Helvetica Neue" panose="02000503000000020004"/>
              <a:ea typeface="Helvetica Neue" panose="02000503000000020004"/>
              <a:cs typeface="Helvetica Neue"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slide-2-title"/>
          <p:cNvSpPr>
            <a:spLocks noGrp="1"/>
          </p:cNvSpPr>
          <p:nvPr/>
        </p:nvSpPr>
        <p:spPr>
          <a:xfrm>
            <a:off x="400050" y="257175"/>
            <a:ext cx="11391900" cy="552450"/>
          </a:xfrm>
          <a:prstGeom prst="rect">
            <a:avLst/>
          </a:prstGeom>
          <a:noFill/>
          <a:ln w="0">
            <a:noFill/>
            <a:prstDash val="solid"/>
          </a:ln>
        </p:spPr>
        <p:txBody>
          <a:bodyPr wrap="square" lIns="0" tIns="0" rIns="0" bIns="0" anchor="t">
            <a:noAutofit/>
          </a:bodyPr>
          <a:lstStyle/>
          <a:p>
            <a:pPr algn="l">
              <a:buNone/>
              <a:defRPr sz="3525" b="1">
                <a:solidFill>
                  <a:srgbClr val="111111"/>
                </a:solidFill>
                <a:latin typeface="Helvetica Neue" panose="02000503000000020004"/>
                <a:ea typeface="Helvetica Neue" panose="02000503000000020004"/>
                <a:cs typeface="Helvetica Neue" panose="02000503000000020004"/>
              </a:defRPr>
            </a:pPr>
            <a:r>
              <a:rPr sz="3525" b="1">
                <a:solidFill>
                  <a:srgbClr val="111111"/>
                </a:solidFill>
                <a:latin typeface="Helvetica Neue" panose="02000503000000020004"/>
                <a:ea typeface="Helvetica Neue" panose="02000503000000020004"/>
                <a:cs typeface="Helvetica Neue" panose="02000503000000020004"/>
              </a:rPr>
              <a:t>Downtown Toronto remains the theft hotspot</a:t>
            </a:r>
            <a:endParaRPr sz="3525" b="1">
              <a:solidFill>
                <a:srgbClr val="111111"/>
              </a:solidFill>
              <a:latin typeface="Helvetica Neue" panose="02000503000000020004"/>
              <a:ea typeface="Helvetica Neue" panose="02000503000000020004"/>
              <a:cs typeface="Helvetica Neue" panose="02000503000000020004"/>
            </a:endParaRPr>
          </a:p>
        </p:txBody>
      </p:sp>
      <p:sp>
        <p:nvSpPr>
          <p:cNvPr id="2" name="slide-2-number"/>
          <p:cNvSpPr>
            <a:spLocks noGrp="1"/>
          </p:cNvSpPr>
          <p:nvPr/>
        </p:nvSpPr>
        <p:spPr>
          <a:xfrm>
            <a:off x="11334750" y="6496050"/>
            <a:ext cx="457200" cy="190500"/>
          </a:xfrm>
          <a:prstGeom prst="rect">
            <a:avLst/>
          </a:prstGeom>
          <a:noFill/>
          <a:ln w="0">
            <a:noFill/>
            <a:prstDash val="solid"/>
          </a:ln>
        </p:spPr>
        <p:txBody>
          <a:bodyPr wrap="square" lIns="0" tIns="0" rIns="0" bIns="0" anchor="b">
            <a:noAutofit/>
          </a:bodyPr>
          <a:lstStyle/>
          <a:p>
            <a:pPr algn="r">
              <a:buNone/>
              <a:defRPr sz="1050">
                <a:solidFill>
                  <a:srgbClr val="666666"/>
                </a:solidFill>
                <a:latin typeface="Helvetica Neue" panose="02000503000000020004"/>
                <a:ea typeface="Helvetica Neue" panose="02000503000000020004"/>
                <a:cs typeface="Helvetica Neue" panose="02000503000000020004"/>
              </a:defRPr>
            </a:pPr>
            <a:r>
              <a:rPr sz="1050">
                <a:solidFill>
                  <a:srgbClr val="666666"/>
                </a:solidFill>
                <a:latin typeface="Helvetica Neue" panose="02000503000000020004"/>
                <a:ea typeface="Helvetica Neue" panose="02000503000000020004"/>
                <a:cs typeface="Helvetica Neue" panose="02000503000000020004"/>
              </a:rPr>
              <a:t>2</a:t>
            </a:r>
            <a:endParaRPr sz="1050">
              <a:solidFill>
                <a:srgbClr val="666666"/>
              </a:solidFill>
              <a:latin typeface="Helvetica Neue" panose="02000503000000020004"/>
              <a:ea typeface="Helvetica Neue" panose="02000503000000020004"/>
              <a:cs typeface="Helvetica Neue" panose="02000503000000020004"/>
            </a:endParaRPr>
          </a:p>
        </p:txBody>
      </p:sp>
      <p:sp>
        <p:nvSpPr>
          <p:cNvPr id="3" name="slide-2-stat-line"/>
          <p:cNvSpPr>
            <a:spLocks noGrp="1"/>
          </p:cNvSpPr>
          <p:nvPr/>
        </p:nvSpPr>
        <p:spPr>
          <a:xfrm>
            <a:off x="400050" y="838200"/>
            <a:ext cx="11391900" cy="266700"/>
          </a:xfrm>
          <a:prstGeom prst="rect">
            <a:avLst/>
          </a:prstGeom>
          <a:noFill/>
          <a:ln w="0">
            <a:noFill/>
            <a:prstDash val="solid"/>
          </a:ln>
        </p:spPr>
        <p:txBody>
          <a:bodyPr wrap="square" lIns="0" tIns="0" rIns="0" bIns="0" anchor="t">
            <a:normAutofit/>
          </a:bodyPr>
          <a:lstStyle/>
          <a:p>
            <a:pPr algn="l">
              <a:buNone/>
              <a:defRPr sz="1425" b="1">
                <a:solidFill>
                  <a:srgbClr val="5D246E"/>
                </a:solidFill>
                <a:latin typeface="Helvetica Neue" panose="02000503000000020004"/>
                <a:ea typeface="Helvetica Neue" panose="02000503000000020004"/>
                <a:cs typeface="Helvetica Neue" panose="02000503000000020004"/>
              </a:defRPr>
            </a:pPr>
            <a:r>
              <a:rPr sz="1425" b="1">
                <a:solidFill>
                  <a:srgbClr val="5D246E"/>
                </a:solidFill>
                <a:latin typeface="Helvetica Neue" panose="02000503000000020004"/>
                <a:ea typeface="Helvetica Neue" panose="02000503000000020004"/>
                <a:cs typeface="Helvetica Neue" panose="02000503000000020004"/>
              </a:rPr>
              <a:t>Waterfront 27.6/month   ·   Bay Street 22.4   ·   Church–Yonge 20.0   ·   Top three = 26.4% of all incidents</a:t>
            </a:r>
            <a:endParaRPr sz="1425" b="1">
              <a:solidFill>
                <a:srgbClr val="5D246E"/>
              </a:solidFill>
              <a:latin typeface="Helvetica Neue" panose="02000503000000020004"/>
              <a:ea typeface="Helvetica Neue" panose="02000503000000020004"/>
              <a:cs typeface="Helvetica Neue" panose="02000503000000020004"/>
            </a:endParaRPr>
          </a:p>
        </p:txBody>
      </p:sp>
      <p:sp>
        <p:nvSpPr>
          <p:cNvPr id="4" name="Space-time heatmap of the 25 highest-count neighbourhoods-frame"/>
          <p:cNvSpPr>
            <a:spLocks noGrp="1"/>
          </p:cNvSpPr>
          <p:nvPr/>
        </p:nvSpPr>
        <p:spPr>
          <a:xfrm>
            <a:off x="390525" y="1190625"/>
            <a:ext cx="7305675" cy="4391025"/>
          </a:xfrm>
          <a:prstGeom prst="rect">
            <a:avLst/>
          </a:prstGeom>
          <a:solidFill>
            <a:srgbClr val="FFFFFF"/>
          </a:solidFill>
          <a:ln w="9525">
            <a:solidFill>
              <a:srgbClr val="DDDDDD"/>
            </a:solidFill>
            <a:prstDash val="solid"/>
          </a:ln>
        </p:spPr>
      </p:sp>
      <p:pic>
        <p:nvPicPr>
          <p:cNvPr id="28" name="图片 15"/>
          <p:cNvPicPr>
            <a:picLocks noChangeAspect="1"/>
          </p:cNvPicPr>
          <p:nvPr/>
        </p:nvPicPr>
        <p:blipFill>
          <a:blip r:embed="rId1"/>
          <a:stretch>
            <a:fillRect/>
          </a:stretch>
        </p:blipFill>
        <p:spPr>
          <a:xfrm>
            <a:off x="400050" y="1200150"/>
            <a:ext cx="7286625" cy="4371975"/>
          </a:xfrm>
          <a:prstGeom prst="rect">
            <a:avLst/>
          </a:prstGeom>
        </p:spPr>
      </p:pic>
      <p:sp>
        <p:nvSpPr>
          <p:cNvPr id="6" name="Long-run neighbourhood theft hotspots-frame"/>
          <p:cNvSpPr>
            <a:spLocks noGrp="1"/>
          </p:cNvSpPr>
          <p:nvPr/>
        </p:nvSpPr>
        <p:spPr>
          <a:xfrm>
            <a:off x="7924800" y="1190625"/>
            <a:ext cx="3876675" cy="2333625"/>
          </a:xfrm>
          <a:prstGeom prst="rect">
            <a:avLst/>
          </a:prstGeom>
          <a:solidFill>
            <a:srgbClr val="FFFFFF"/>
          </a:solidFill>
          <a:ln w="9525">
            <a:solidFill>
              <a:srgbClr val="DDDDDD"/>
            </a:solidFill>
            <a:prstDash val="solid"/>
          </a:ln>
        </p:spPr>
      </p:sp>
      <p:pic>
        <p:nvPicPr>
          <p:cNvPr id="30" name="图片 17"/>
          <p:cNvPicPr>
            <a:picLocks noChangeAspect="1"/>
          </p:cNvPicPr>
          <p:nvPr/>
        </p:nvPicPr>
        <p:blipFill>
          <a:blip r:embed="rId2"/>
          <a:srcRect t="2000" r="30000" b="8000"/>
          <a:stretch>
            <a:fillRect/>
          </a:stretch>
        </p:blipFill>
        <p:spPr>
          <a:xfrm>
            <a:off x="7934325" y="1200150"/>
            <a:ext cx="3857625" cy="2314575"/>
          </a:xfrm>
          <a:prstGeom prst="rect">
            <a:avLst/>
          </a:prstGeom>
        </p:spPr>
      </p:pic>
      <p:sp>
        <p:nvSpPr>
          <p:cNvPr id="8" name="Poster frame for Toronto bicycle theft animation-frame"/>
          <p:cNvSpPr>
            <a:spLocks noGrp="1"/>
          </p:cNvSpPr>
          <p:nvPr/>
        </p:nvSpPr>
        <p:spPr>
          <a:xfrm>
            <a:off x="7924800" y="3714750"/>
            <a:ext cx="3876675" cy="1866265"/>
          </a:xfrm>
          <a:prstGeom prst="rect">
            <a:avLst/>
          </a:prstGeom>
          <a:solidFill>
            <a:srgbClr val="FFFFFF"/>
          </a:solidFill>
          <a:ln w="9525">
            <a:solidFill>
              <a:srgbClr val="DDDDDD"/>
            </a:solidFill>
            <a:prstDash val="solid"/>
          </a:ln>
        </p:spPr>
      </p:sp>
      <p:pic>
        <p:nvPicPr>
          <p:cNvPr id="32" name="图片 19"/>
          <p:cNvPicPr>
            <a:picLocks noChangeAspect="1"/>
          </p:cNvPicPr>
          <p:nvPr/>
        </p:nvPicPr>
        <p:blipFill>
          <a:blip r:embed="rId3"/>
          <a:stretch>
            <a:fillRect/>
          </a:stretch>
        </p:blipFill>
        <p:spPr>
          <a:xfrm>
            <a:off x="7924800" y="3357245"/>
            <a:ext cx="3857625" cy="1925955"/>
          </a:xfrm>
          <a:prstGeom prst="rect">
            <a:avLst/>
          </a:prstGeom>
        </p:spPr>
      </p:pic>
      <p:sp>
        <p:nvSpPr>
          <p:cNvPr id="10" name="slide-2-animation-link"/>
          <p:cNvSpPr>
            <a:spLocks noGrp="1"/>
          </p:cNvSpPr>
          <p:nvPr/>
        </p:nvSpPr>
        <p:spPr>
          <a:xfrm>
            <a:off x="8040370" y="5229225"/>
            <a:ext cx="3524250" cy="323850"/>
          </a:xfrm>
          <a:prstGeom prst="rect">
            <a:avLst/>
          </a:prstGeom>
          <a:solidFill>
            <a:srgbClr val="5D246E"/>
          </a:solidFill>
          <a:ln w="0">
            <a:noFill/>
            <a:prstDash val="solid"/>
          </a:ln>
        </p:spPr>
        <p:txBody>
          <a:bodyPr wrap="square" lIns="0" tIns="0" rIns="0" bIns="0" anchor="ctr">
            <a:normAutofit fontScale="84872"/>
          </a:bodyPr>
          <a:lstStyle/>
          <a:p>
            <a:pPr algn="ctr">
              <a:buNone/>
              <a:defRPr sz="1500" b="1">
                <a:solidFill>
                  <a:srgbClr val="FFFFFF"/>
                </a:solidFill>
                <a:latin typeface="Helvetica Neue" panose="02000503000000020004"/>
                <a:ea typeface="Helvetica Neue" panose="02000503000000020004"/>
                <a:cs typeface="Helvetica Neue" panose="02000503000000020004"/>
              </a:defRPr>
            </a:pPr>
            <a:r>
              <a:rPr sz="1500" b="1">
                <a:solidFill>
                  <a:srgbClr val="FFFFFF"/>
                </a:solidFill>
                <a:latin typeface="Helvetica Neue" panose="02000503000000020004"/>
                <a:ea typeface="Helvetica Neue" panose="02000503000000020004"/>
                <a:cs typeface="Helvetica Neue" panose="02000503000000020004"/>
              </a:rPr>
              <a:t>▶  Companion 30-second animation included</a:t>
            </a:r>
            <a:endParaRPr sz="1500" b="1">
              <a:solidFill>
                <a:srgbClr val="FFFFFF"/>
              </a:solidFill>
              <a:latin typeface="Helvetica Neue" panose="02000503000000020004"/>
              <a:ea typeface="Helvetica Neue" panose="02000503000000020004"/>
              <a:cs typeface="Helvetica Neue" panose="02000503000000020004"/>
            </a:endParaRPr>
          </a:p>
        </p:txBody>
      </p:sp>
      <p:sp>
        <p:nvSpPr>
          <p:cNvPr id="11" name="slide-2-takeaway"/>
          <p:cNvSpPr>
            <a:spLocks noGrp="1"/>
          </p:cNvSpPr>
          <p:nvPr/>
        </p:nvSpPr>
        <p:spPr>
          <a:xfrm>
            <a:off x="400050" y="5772150"/>
            <a:ext cx="2764155" cy="1079500"/>
          </a:xfrm>
          <a:prstGeom prst="rect">
            <a:avLst/>
          </a:prstGeom>
        </p:spPr>
        <p:style>
          <a:lnRef idx="3">
            <a:schemeClr val="accent1"/>
          </a:lnRef>
          <a:fillRef idx="0">
            <a:srgbClr val="FFFFFF"/>
          </a:fillRef>
          <a:effectRef idx="0">
            <a:srgbClr val="FFFFFF"/>
          </a:effectRef>
          <a:fontRef idx="minor">
            <a:schemeClr val="tx1"/>
          </a:fontRef>
        </p:style>
        <p:txBody>
          <a:bodyPr wrap="square" lIns="0" tIns="0" rIns="0" bIns="0" anchor="t">
            <a:normAutofit/>
          </a:bodyPr>
          <a:lstStyle/>
          <a:p>
            <a:pPr algn="l">
              <a:buNone/>
              <a:defRPr sz="1800" b="1">
                <a:solidFill>
                  <a:srgbClr val="0B7479"/>
                </a:solidFill>
                <a:latin typeface="Helvetica Neue" panose="02000503000000020004"/>
                <a:ea typeface="Helvetica Neue" panose="02000503000000020004"/>
                <a:cs typeface="Helvetica Neue" panose="02000503000000020004"/>
              </a:defRPr>
            </a:pPr>
            <a:r>
              <a:rPr sz="1800" b="1">
                <a:solidFill>
                  <a:srgbClr val="0B7479"/>
                </a:solidFill>
                <a:latin typeface="Helvetica Neue" panose="02000503000000020004"/>
                <a:ea typeface="Helvetica Neue" panose="02000503000000020004"/>
                <a:cs typeface="Helvetica Neue" panose="02000503000000020004"/>
              </a:rPr>
              <a:t>   </a:t>
            </a:r>
            <a:r>
              <a:rPr sz="1280" b="1">
                <a:solidFill>
                  <a:srgbClr val="0B7479"/>
                </a:solidFill>
                <a:latin typeface="Helvetica Neue" panose="02000503000000020004"/>
                <a:ea typeface="Helvetica Neue" panose="02000503000000020004"/>
                <a:cs typeface="Helvetica Neue" panose="02000503000000020004"/>
              </a:rPr>
              <a:t>SPATIAL </a:t>
            </a:r>
            <a:r>
              <a:rPr sz="1280" b="1">
                <a:solidFill>
                  <a:srgbClr val="0B7479"/>
                </a:solidFill>
                <a:latin typeface="Helvetica Neue" panose="02000503000000020004"/>
                <a:ea typeface="Helvetica Neue" panose="02000503000000020004"/>
                <a:cs typeface="Helvetica Neue" panose="02000503000000020004"/>
              </a:rPr>
              <a:t>SIGNAL </a:t>
            </a:r>
            <a:endParaRPr sz="1280" b="1">
              <a:solidFill>
                <a:srgbClr val="0B7479"/>
              </a:solidFill>
              <a:latin typeface="Helvetica Neue" panose="02000503000000020004"/>
              <a:ea typeface="Helvetica Neue" panose="02000503000000020004"/>
              <a:cs typeface="Helvetica Neue" panose="02000503000000020004"/>
            </a:endParaRPr>
          </a:p>
        </p:txBody>
      </p:sp>
      <p:sp>
        <p:nvSpPr>
          <p:cNvPr id="13" name="文本框 12"/>
          <p:cNvSpPr>
            <a:spLocks noGrp="1"/>
          </p:cNvSpPr>
          <p:nvPr/>
        </p:nvSpPr>
        <p:spPr>
          <a:xfrm>
            <a:off x="526415" y="6093460"/>
            <a:ext cx="2637790" cy="816610"/>
          </a:xfrm>
          <a:prstGeom prst="rect">
            <a:avLst/>
          </a:prstGeom>
          <a:noFill/>
        </p:spPr>
        <p:txBody>
          <a:bodyPr wrap="square">
            <a:noAutofit/>
          </a:bodyPr>
          <a:lstStyle/>
          <a:p>
            <a:r>
              <a:rPr sz="1400" b="1"/>
              <a:t>Reported incidents remain persistently concentrated downtown.</a:t>
            </a:r>
            <a:endParaRPr sz="1400" b="1"/>
          </a:p>
        </p:txBody>
      </p:sp>
      <p:sp>
        <p:nvSpPr>
          <p:cNvPr id="14" name="文本框 13"/>
          <p:cNvSpPr>
            <a:spLocks noGrp="1"/>
          </p:cNvSpPr>
          <p:nvPr/>
        </p:nvSpPr>
        <p:spPr>
          <a:xfrm>
            <a:off x="3216275" y="5772150"/>
            <a:ext cx="8437880" cy="107886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wrap="square">
            <a:noAutofit/>
          </a:bodyPr>
          <a:lstStyle/>
          <a:p>
            <a:pPr algn="l">
              <a:buNone/>
            </a:pPr>
            <a:r>
              <a:rPr sz="1280" b="1">
                <a:solidFill>
                  <a:srgbClr val="0B7479"/>
                </a:solidFill>
                <a:latin typeface="Helvetica Neue" panose="02000503000000020004"/>
                <a:ea typeface="Helvetica Neue" panose="02000503000000020004"/>
                <a:cs typeface="Helvetica Neue" panose="02000503000000020004"/>
              </a:rPr>
              <a:t>  SPATIAL- TEMPORAL SIGNAL</a:t>
            </a:r>
            <a:endParaRPr sz="1280" b="1">
              <a:solidFill>
                <a:srgbClr val="0B7479"/>
              </a:solidFill>
              <a:latin typeface="Helvetica Neue" panose="02000503000000020004"/>
              <a:ea typeface="Helvetica Neue" panose="02000503000000020004"/>
              <a:cs typeface="Helvetica Neue" panose="02000503000000020004"/>
            </a:endParaRPr>
          </a:p>
        </p:txBody>
      </p:sp>
      <p:sp>
        <p:nvSpPr>
          <p:cNvPr id="19" name="文本框 18"/>
          <p:cNvSpPr>
            <a:spLocks noGrp="1"/>
          </p:cNvSpPr>
          <p:nvPr/>
        </p:nvSpPr>
        <p:spPr>
          <a:xfrm>
            <a:off x="3257550" y="6093460"/>
            <a:ext cx="7983220" cy="52197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a:noAutofit/>
          </a:bodyPr>
          <a:lstStyle/>
          <a:p>
            <a:pPr algn="l">
              <a:buNone/>
              <a:defRPr sz="1400" b="1">
                <a:solidFill>
                  <a:srgbClr val="111111"/>
                </a:solidFill>
                <a:latin typeface="Helvetica Neue" panose="02000503000000020004"/>
                <a:ea typeface="Helvetica Neue" panose="02000503000000020004"/>
                <a:cs typeface="Helvetica Neue" panose="02000503000000020004"/>
              </a:defRPr>
            </a:pPr>
            <a:r>
              <a:rPr sz="1400" b="1">
                <a:solidFill>
                  <a:srgbClr val="111111"/>
                </a:solidFill>
                <a:latin typeface="Helvetica Neue" panose="02000503000000020004"/>
                <a:ea typeface="Helvetica Neue" panose="02000503000000020004"/>
                <a:cs typeface="Helvetica Neue" panose="02000503000000020004"/>
              </a:rPr>
              <a:t>Reported thefts rose to a 2018 peak, declined after 2020, repeatedly peaked in summer, and remained concentrated in downtown neighbourhoods.</a:t>
            </a:r>
            <a:endParaRPr sz="1400" b="1">
              <a:solidFill>
                <a:srgbClr val="111111"/>
              </a:solidFill>
              <a:latin typeface="Helvetica Neue" panose="02000503000000020004"/>
              <a:ea typeface="Helvetica Neue" panose="02000503000000020004"/>
              <a:cs typeface="Helvetica Neue" panose="02000503000000020004"/>
            </a:endParaRPr>
          </a:p>
          <a:p>
            <a:pPr algn="l">
              <a:buNone/>
            </a:pPr>
          </a:p>
        </p:txBody>
      </p:sp>
      <p:pic>
        <p:nvPicPr>
          <p:cNvPr id="38" name="toronto_bicycle_theft_animation_2014_2023"/>
          <p:cNvPicPr>
            <a:picLocks noChangeAspect="1"/>
          </p:cNvPicPr>
          <p:nvPr/>
        </p:nvPicPr>
        <p:blipFill>
          <a:blip r:embed="rId4"/>
          <a:stretch>
            <a:fillRect/>
          </a:stretch>
        </p:blipFill>
        <p:spPr>
          <a:xfrm>
            <a:off x="7818755" y="3477260"/>
            <a:ext cx="3982720" cy="2033905"/>
          </a:xfrm>
          <a:prstGeom prst="rect">
            <a:avLst/>
          </a:prstGeom>
        </p:spPr>
      </p:pic>
      <p:pic>
        <p:nvPicPr>
          <p:cNvPr id="5" name="toronto_bicycle_theft_animation_2014_2023">
            <a:hlinkClick r:id="" action="ppaction://media"/>
          </p:cNvPr>
          <p:cNvPicPr/>
          <p:nvPr>
            <a:videoFile r:link="rId5"/>
            <p:extLst>
              <p:ext uri="{DAA4B4D4-6D71-4841-9C94-3DE7FCFB9230}">
                <p14:media xmlns:p14="http://schemas.microsoft.com/office/powerpoint/2010/main" r:embed="rId6"/>
              </p:ext>
            </p:extLst>
            <p:custDataLst>
              <p:tags r:id="rId7"/>
            </p:custDataLst>
          </p:nvPr>
        </p:nvPicPr>
        <p:blipFill>
          <a:blip r:embed="rId4"/>
          <a:stretch>
            <a:fillRect/>
          </a:stretch>
        </p:blipFill>
        <p:spPr>
          <a:xfrm>
            <a:off x="7819199" y="3477600"/>
            <a:ext cx="3981600" cy="2034000"/>
          </a:xfrm>
          <a:prstGeom prst="rect">
            <a:avLst/>
          </a:prstGeom>
        </p:spPr>
      </p:pic>
    </p:spTree>
  </p:cSld>
  <p:clrMapOvr>
    <a:masterClrMapping/>
  </p:clrMapOvr>
  <p:timing>
    <p:tnLst>
      <p:par>
        <p:cTn id="1" dur="indefinite" restart="never" nodeType="tmRoot">
          <p:childTnLst>
            <p:video fullScrn="1">
              <p:cMediaNode>
                <p:cTn id="2" fill="hold" display="1">
                  <p:stCondLst>
                    <p:cond delay="indefinite"/>
                  </p:stCondLst>
                </p:cTn>
                <p:tgtEl>
                  <p:spTgt spid="5"/>
                </p:tgtEl>
              </p:cMediaNode>
            </p:video>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slide-3-title"/>
          <p:cNvSpPr>
            <a:spLocks noGrp="1"/>
          </p:cNvSpPr>
          <p:nvPr/>
        </p:nvSpPr>
        <p:spPr>
          <a:xfrm>
            <a:off x="400050" y="257175"/>
            <a:ext cx="11391900" cy="552450"/>
          </a:xfrm>
          <a:prstGeom prst="rect">
            <a:avLst/>
          </a:prstGeom>
          <a:noFill/>
          <a:ln w="0">
            <a:noFill/>
            <a:prstDash val="solid"/>
          </a:ln>
        </p:spPr>
        <p:txBody>
          <a:bodyPr wrap="square" lIns="0" tIns="0" rIns="0" bIns="0" anchor="t">
            <a:noAutofit/>
          </a:bodyPr>
          <a:lstStyle/>
          <a:p>
            <a:pPr algn="l">
              <a:buNone/>
              <a:defRPr sz="3525" b="1">
                <a:solidFill>
                  <a:srgbClr val="111111"/>
                </a:solidFill>
                <a:latin typeface="Helvetica Neue" panose="02000503000000020004"/>
                <a:ea typeface="Helvetica Neue" panose="02000503000000020004"/>
                <a:cs typeface="Helvetica Neue" panose="02000503000000020004"/>
              </a:defRPr>
            </a:pPr>
            <a:r>
              <a:rPr sz="3525" b="1">
                <a:solidFill>
                  <a:srgbClr val="111111"/>
                </a:solidFill>
                <a:latin typeface="Helvetica Neue" panose="02000503000000020004"/>
                <a:ea typeface="Helvetica Neue" panose="02000503000000020004"/>
                <a:cs typeface="Helvetica Neue" panose="02000503000000020004"/>
              </a:rPr>
              <a:t>Basis functions encode time and space</a:t>
            </a:r>
            <a:endParaRPr sz="3525" b="1">
              <a:solidFill>
                <a:srgbClr val="111111"/>
              </a:solidFill>
              <a:latin typeface="Helvetica Neue" panose="02000503000000020004"/>
              <a:ea typeface="Helvetica Neue" panose="02000503000000020004"/>
              <a:cs typeface="Helvetica Neue" panose="02000503000000020004"/>
            </a:endParaRPr>
          </a:p>
        </p:txBody>
      </p:sp>
      <p:sp>
        <p:nvSpPr>
          <p:cNvPr id="2" name="slide-3-number"/>
          <p:cNvSpPr>
            <a:spLocks noGrp="1"/>
          </p:cNvSpPr>
          <p:nvPr/>
        </p:nvSpPr>
        <p:spPr>
          <a:xfrm>
            <a:off x="11334750" y="6496050"/>
            <a:ext cx="457200" cy="190500"/>
          </a:xfrm>
          <a:prstGeom prst="rect">
            <a:avLst/>
          </a:prstGeom>
          <a:noFill/>
          <a:ln w="0">
            <a:noFill/>
            <a:prstDash val="solid"/>
          </a:ln>
        </p:spPr>
        <p:txBody>
          <a:bodyPr wrap="square" lIns="0" tIns="0" rIns="0" bIns="0" anchor="b">
            <a:noAutofit/>
          </a:bodyPr>
          <a:lstStyle/>
          <a:p>
            <a:pPr algn="r">
              <a:buNone/>
              <a:defRPr sz="1050">
                <a:solidFill>
                  <a:srgbClr val="666666"/>
                </a:solidFill>
                <a:latin typeface="Helvetica Neue" panose="02000503000000020004"/>
                <a:ea typeface="Helvetica Neue" panose="02000503000000020004"/>
                <a:cs typeface="Helvetica Neue" panose="02000503000000020004"/>
              </a:defRPr>
            </a:pPr>
            <a:r>
              <a:rPr sz="1050">
                <a:solidFill>
                  <a:srgbClr val="666666"/>
                </a:solidFill>
                <a:latin typeface="Helvetica Neue" panose="02000503000000020004"/>
                <a:ea typeface="Helvetica Neue" panose="02000503000000020004"/>
                <a:cs typeface="Helvetica Neue" panose="02000503000000020004"/>
              </a:rPr>
              <a:t>3</a:t>
            </a:r>
            <a:endParaRPr sz="1050">
              <a:solidFill>
                <a:srgbClr val="666666"/>
              </a:solidFill>
              <a:latin typeface="Helvetica Neue" panose="02000503000000020004"/>
              <a:ea typeface="Helvetica Neue" panose="02000503000000020004"/>
              <a:cs typeface="Helvetica Neue" panose="02000503000000020004"/>
            </a:endParaRPr>
          </a:p>
        </p:txBody>
      </p:sp>
      <p:sp>
        <p:nvSpPr>
          <p:cNvPr id="3" name="slide-3-method"/>
          <p:cNvSpPr>
            <a:spLocks noGrp="1"/>
          </p:cNvSpPr>
          <p:nvPr/>
        </p:nvSpPr>
        <p:spPr>
          <a:xfrm>
            <a:off x="400050" y="866775"/>
            <a:ext cx="7143750" cy="323850"/>
          </a:xfrm>
          <a:prstGeom prst="rect">
            <a:avLst/>
          </a:prstGeom>
          <a:noFill/>
          <a:ln w="0">
            <a:noFill/>
            <a:prstDash val="solid"/>
          </a:ln>
        </p:spPr>
        <p:txBody>
          <a:bodyPr wrap="none" lIns="0" tIns="0" rIns="0" bIns="0" anchor="t">
            <a:normAutofit fontScale="98293"/>
          </a:bodyPr>
          <a:lstStyle/>
          <a:p>
            <a:pPr algn="l">
              <a:buNone/>
              <a:defRPr sz="1650" b="1">
                <a:solidFill>
                  <a:srgbClr val="0B7479"/>
                </a:solidFill>
                <a:latin typeface="Helvetica Neue" panose="02000503000000020004"/>
                <a:ea typeface="Helvetica Neue" panose="02000503000000020004"/>
                <a:cs typeface="Helvetica Neue" panose="02000503000000020004"/>
              </a:defRPr>
            </a:pPr>
            <a:r>
              <a:rPr sz="1650" b="1">
                <a:solidFill>
                  <a:srgbClr val="0B7479"/>
                </a:solidFill>
                <a:latin typeface="Helvetica Neue" panose="02000503000000020004"/>
                <a:ea typeface="Helvetica Neue" panose="02000503000000020004"/>
                <a:cs typeface="Helvetica Neue" panose="02000503000000020004"/>
              </a:rPr>
              <a:t>Count  →  log1p  →  temporal + seasonal + spatial bases  →  OLS / Ridge</a:t>
            </a:r>
            <a:endParaRPr sz="1650" b="1">
              <a:solidFill>
                <a:srgbClr val="0B7479"/>
              </a:solidFill>
              <a:latin typeface="Helvetica Neue" panose="02000503000000020004"/>
              <a:ea typeface="Helvetica Neue" panose="02000503000000020004"/>
              <a:cs typeface="Helvetica Neue" panose="02000503000000020004"/>
            </a:endParaRPr>
          </a:p>
        </p:txBody>
      </p:sp>
      <p:sp>
        <p:nvSpPr>
          <p:cNvPr id="4" name="slide-3-split"/>
          <p:cNvSpPr>
            <a:spLocks noGrp="1"/>
          </p:cNvSpPr>
          <p:nvPr/>
        </p:nvSpPr>
        <p:spPr>
          <a:xfrm>
            <a:off x="7810500" y="866775"/>
            <a:ext cx="3981450" cy="323850"/>
          </a:xfrm>
          <a:prstGeom prst="rect">
            <a:avLst/>
          </a:prstGeom>
          <a:noFill/>
          <a:ln w="0">
            <a:noFill/>
            <a:prstDash val="solid"/>
          </a:ln>
        </p:spPr>
        <p:txBody>
          <a:bodyPr wrap="square" lIns="0" tIns="0" rIns="0" bIns="0" anchor="t">
            <a:normAutofit fontScale="92372"/>
          </a:bodyPr>
          <a:lstStyle/>
          <a:p>
            <a:pPr algn="r">
              <a:buNone/>
              <a:defRPr sz="1500" b="1">
                <a:solidFill>
                  <a:srgbClr val="425466"/>
                </a:solidFill>
                <a:latin typeface="Helvetica Neue" panose="02000503000000020004"/>
                <a:ea typeface="Helvetica Neue" panose="02000503000000020004"/>
                <a:cs typeface="Helvetica Neue" panose="02000503000000020004"/>
              </a:defRPr>
            </a:pPr>
            <a:r>
              <a:rPr sz="1500" b="1">
                <a:solidFill>
                  <a:srgbClr val="425466"/>
                </a:solidFill>
                <a:latin typeface="Helvetica Neue" panose="02000503000000020004"/>
                <a:ea typeface="Helvetica Neue" panose="02000503000000020004"/>
                <a:cs typeface="Helvetica Neue" panose="02000503000000020004"/>
              </a:rPr>
              <a:t>Rolling validation 2018–2022  →  Final test 2023</a:t>
            </a:r>
            <a:endParaRPr sz="1500" b="1">
              <a:solidFill>
                <a:srgbClr val="425466"/>
              </a:solidFill>
              <a:latin typeface="Helvetica Neue" panose="02000503000000020004"/>
              <a:ea typeface="Helvetica Neue" panose="02000503000000020004"/>
              <a:cs typeface="Helvetica Neue" panose="02000503000000020004"/>
            </a:endParaRPr>
          </a:p>
        </p:txBody>
      </p:sp>
      <p:sp>
        <p:nvSpPr>
          <p:cNvPr id="5" name="Examples of temporal basis functions-frame"/>
          <p:cNvSpPr>
            <a:spLocks noGrp="1"/>
          </p:cNvSpPr>
          <p:nvPr/>
        </p:nvSpPr>
        <p:spPr>
          <a:xfrm>
            <a:off x="390525" y="1352550"/>
            <a:ext cx="5562600" cy="3343275"/>
          </a:xfrm>
          <a:prstGeom prst="rect">
            <a:avLst/>
          </a:prstGeom>
          <a:solidFill>
            <a:srgbClr val="FFFFFF"/>
          </a:solidFill>
          <a:ln w="9525">
            <a:solidFill>
              <a:srgbClr val="DDDDDD"/>
            </a:solidFill>
            <a:prstDash val="solid"/>
          </a:ln>
        </p:spPr>
      </p:sp>
      <p:pic>
        <p:nvPicPr>
          <p:cNvPr id="21" name="图片 17"/>
          <p:cNvPicPr>
            <a:picLocks noChangeAspect="1"/>
          </p:cNvPicPr>
          <p:nvPr/>
        </p:nvPicPr>
        <p:blipFill>
          <a:blip r:embed="rId1"/>
          <a:stretch>
            <a:fillRect/>
          </a:stretch>
        </p:blipFill>
        <p:spPr>
          <a:xfrm>
            <a:off x="401637" y="1362075"/>
            <a:ext cx="5540375" cy="3324225"/>
          </a:xfrm>
          <a:prstGeom prst="rect">
            <a:avLst/>
          </a:prstGeom>
        </p:spPr>
      </p:pic>
      <p:sp>
        <p:nvSpPr>
          <p:cNvPr id="7" name="Out-of-time model comparison on 2023-frame"/>
          <p:cNvSpPr>
            <a:spLocks noGrp="1"/>
          </p:cNvSpPr>
          <p:nvPr/>
        </p:nvSpPr>
        <p:spPr>
          <a:xfrm>
            <a:off x="6238875" y="1352550"/>
            <a:ext cx="5562600" cy="3343275"/>
          </a:xfrm>
          <a:prstGeom prst="rect">
            <a:avLst/>
          </a:prstGeom>
          <a:solidFill>
            <a:srgbClr val="FFFFFF"/>
          </a:solidFill>
          <a:ln w="9525">
            <a:solidFill>
              <a:srgbClr val="DDDDDD"/>
            </a:solidFill>
            <a:prstDash val="solid"/>
          </a:ln>
        </p:spPr>
      </p:sp>
      <p:pic>
        <p:nvPicPr>
          <p:cNvPr id="23" name="图片 19"/>
          <p:cNvPicPr>
            <a:picLocks noChangeAspect="1"/>
          </p:cNvPicPr>
          <p:nvPr/>
        </p:nvPicPr>
        <p:blipFill>
          <a:blip r:embed="rId2"/>
          <a:stretch>
            <a:fillRect/>
          </a:stretch>
        </p:blipFill>
        <p:spPr>
          <a:xfrm>
            <a:off x="6249988" y="1362075"/>
            <a:ext cx="5540375" cy="3324225"/>
          </a:xfrm>
          <a:prstGeom prst="rect">
            <a:avLst/>
          </a:prstGeom>
        </p:spPr>
      </p:pic>
      <p:sp>
        <p:nvSpPr>
          <p:cNvPr id="9" name="slide-3-components-background"/>
          <p:cNvSpPr>
            <a:spLocks noGrp="1"/>
          </p:cNvSpPr>
          <p:nvPr/>
        </p:nvSpPr>
        <p:spPr>
          <a:xfrm>
            <a:off x="400050" y="4895850"/>
            <a:ext cx="7286625" cy="1181100"/>
          </a:xfrm>
          <a:prstGeom prst="rect">
            <a:avLst/>
          </a:prstGeom>
          <a:solidFill>
            <a:srgbClr val="F2F2F2"/>
          </a:solidFill>
          <a:ln w="0">
            <a:noFill/>
            <a:prstDash val="solid"/>
          </a:ln>
        </p:spPr>
      </p:sp>
      <p:sp>
        <p:nvSpPr>
          <p:cNvPr id="10" name="slide-3-components"/>
          <p:cNvSpPr>
            <a:spLocks noGrp="1"/>
          </p:cNvSpPr>
          <p:nvPr/>
        </p:nvSpPr>
        <p:spPr>
          <a:xfrm>
            <a:off x="638175" y="5105400"/>
            <a:ext cx="6810375" cy="762000"/>
          </a:xfrm>
          <a:prstGeom prst="rect">
            <a:avLst/>
          </a:prstGeom>
          <a:noFill/>
          <a:ln w="0">
            <a:noFill/>
            <a:prstDash val="solid"/>
          </a:ln>
        </p:spPr>
        <p:txBody>
          <a:bodyPr wrap="square" lIns="0" tIns="0" rIns="0" bIns="0" anchor="t">
            <a:normAutofit/>
          </a:bodyPr>
          <a:lstStyle/>
          <a:p>
            <a:pPr algn="l">
              <a:buNone/>
              <a:defRPr sz="1500">
                <a:solidFill>
                  <a:srgbClr val="111111"/>
                </a:solidFill>
                <a:latin typeface="Helvetica Neue" panose="02000503000000020004"/>
                <a:ea typeface="Helvetica Neue" panose="02000503000000020004"/>
                <a:cs typeface="Helvetica Neue" panose="02000503000000020004"/>
              </a:defRPr>
            </a:pPr>
            <a:r>
              <a:rPr sz="1500">
                <a:solidFill>
                  <a:srgbClr val="111111"/>
                </a:solidFill>
                <a:latin typeface="Helvetica Neue" panose="02000503000000020004"/>
                <a:ea typeface="Helvetica Neue" panose="02000503000000020004"/>
                <a:cs typeface="Helvetica Neue" panose="02000503000000020004"/>
              </a:rPr>
              <a:t>B-splines + sine/cosine + 16 spatial RBFs + neighbourhood indicators</a:t>
            </a:r>
            <a:endParaRPr sz="1500">
              <a:solidFill>
                <a:srgbClr val="111111"/>
              </a:solidFill>
              <a:latin typeface="Helvetica Neue" panose="02000503000000020004"/>
              <a:ea typeface="Helvetica Neue" panose="02000503000000020004"/>
              <a:cs typeface="Helvetica Neue" panose="02000503000000020004"/>
            </a:endParaRPr>
          </a:p>
          <a:p>
            <a:pPr algn="l">
              <a:buNone/>
              <a:defRPr sz="1500">
                <a:solidFill>
                  <a:srgbClr val="111111"/>
                </a:solidFill>
                <a:latin typeface="Helvetica Neue" panose="02000503000000020004"/>
                <a:ea typeface="Helvetica Neue" panose="02000503000000020004"/>
                <a:cs typeface="Helvetica Neue" panose="02000503000000020004"/>
              </a:defRPr>
            </a:pPr>
            <a:r>
              <a:rPr sz="1500">
                <a:solidFill>
                  <a:srgbClr val="111111"/>
                </a:solidFill>
                <a:latin typeface="Helvetica Neue" panose="02000503000000020004"/>
                <a:ea typeface="Helvetica Neue" panose="02000503000000020004"/>
                <a:cs typeface="Helvetica Neue" panose="02000503000000020004"/>
              </a:rPr>
              <a:t>Ridge λ selected by lowest mean RMSE across five rolling folds</a:t>
            </a:r>
            <a:endParaRPr sz="1500">
              <a:solidFill>
                <a:srgbClr val="111111"/>
              </a:solidFill>
              <a:latin typeface="Helvetica Neue" panose="02000503000000020004"/>
              <a:ea typeface="Helvetica Neue" panose="02000503000000020004"/>
              <a:cs typeface="Helvetica Neue" panose="02000503000000020004"/>
            </a:endParaRPr>
          </a:p>
        </p:txBody>
      </p:sp>
      <p:sp>
        <p:nvSpPr>
          <p:cNvPr id="11" name="slide-3-metric-background"/>
          <p:cNvSpPr>
            <a:spLocks noGrp="1"/>
          </p:cNvSpPr>
          <p:nvPr/>
        </p:nvSpPr>
        <p:spPr>
          <a:xfrm>
            <a:off x="7934325" y="4895850"/>
            <a:ext cx="3857625" cy="1181100"/>
          </a:xfrm>
          <a:prstGeom prst="rect">
            <a:avLst/>
          </a:prstGeom>
          <a:solidFill>
            <a:srgbClr val="0B7479"/>
          </a:solidFill>
          <a:ln w="0">
            <a:noFill/>
            <a:prstDash val="solid"/>
          </a:ln>
        </p:spPr>
      </p:sp>
      <p:sp>
        <p:nvSpPr>
          <p:cNvPr id="12" name="slide-3-metric"/>
          <p:cNvSpPr>
            <a:spLocks noGrp="1"/>
          </p:cNvSpPr>
          <p:nvPr/>
        </p:nvSpPr>
        <p:spPr>
          <a:xfrm>
            <a:off x="8172450" y="5095875"/>
            <a:ext cx="3381375" cy="781050"/>
          </a:xfrm>
          <a:prstGeom prst="rect">
            <a:avLst/>
          </a:prstGeom>
          <a:noFill/>
          <a:ln w="0">
            <a:noFill/>
            <a:prstDash val="solid"/>
          </a:ln>
        </p:spPr>
        <p:txBody>
          <a:bodyPr wrap="square" lIns="0" tIns="0" rIns="0" bIns="0" anchor="ctr">
            <a:normAutofit/>
          </a:bodyPr>
          <a:lstStyle/>
          <a:p>
            <a:pPr algn="l">
              <a:buNone/>
              <a:defRPr sz="2100" b="1">
                <a:solidFill>
                  <a:srgbClr val="FFFFFF"/>
                </a:solidFill>
                <a:latin typeface="Helvetica Neue" panose="02000503000000020004"/>
                <a:ea typeface="Helvetica Neue" panose="02000503000000020004"/>
                <a:cs typeface="Helvetica Neue" panose="02000503000000020004"/>
              </a:defRPr>
            </a:pPr>
            <a:r>
              <a:rPr sz="2100" b="1">
                <a:solidFill>
                  <a:srgbClr val="FFFFFF"/>
                </a:solidFill>
                <a:latin typeface="Helvetica Neue" panose="02000503000000020004"/>
                <a:ea typeface="Helvetica Neue" panose="02000503000000020004"/>
                <a:cs typeface="Helvetica Neue" panose="02000503000000020004"/>
              </a:rPr>
              <a:t>Basis Ridge</a:t>
            </a:r>
            <a:endParaRPr sz="2100" b="1">
              <a:solidFill>
                <a:srgbClr val="FFFFFF"/>
              </a:solidFill>
              <a:latin typeface="Helvetica Neue" panose="02000503000000020004"/>
              <a:ea typeface="Helvetica Neue" panose="02000503000000020004"/>
              <a:cs typeface="Helvetica Neue" panose="02000503000000020004"/>
            </a:endParaRPr>
          </a:p>
          <a:p>
            <a:pPr algn="l">
              <a:buNone/>
              <a:defRPr sz="2100" b="1">
                <a:solidFill>
                  <a:srgbClr val="FFFFFF"/>
                </a:solidFill>
                <a:latin typeface="Helvetica Neue" panose="02000503000000020004"/>
                <a:ea typeface="Helvetica Neue" panose="02000503000000020004"/>
                <a:cs typeface="Helvetica Neue" panose="02000503000000020004"/>
              </a:defRPr>
            </a:pPr>
            <a:r>
              <a:rPr sz="2100" b="1">
                <a:solidFill>
                  <a:srgbClr val="FFFFFF"/>
                </a:solidFill>
                <a:latin typeface="Helvetica Neue" panose="02000503000000020004"/>
                <a:ea typeface="Helvetica Neue" panose="02000503000000020004"/>
                <a:cs typeface="Helvetica Neue" panose="02000503000000020004"/>
              </a:rPr>
              <a:t>RMSE 1.98   ·   R² 0.774</a:t>
            </a:r>
            <a:endParaRPr sz="2100" b="1">
              <a:solidFill>
                <a:srgbClr val="FFFFFF"/>
              </a:solidFill>
              <a:latin typeface="Helvetica Neue" panose="02000503000000020004"/>
              <a:ea typeface="Helvetica Neue" panose="02000503000000020004"/>
              <a:cs typeface="Helvetica Neue"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slide-4-title"/>
          <p:cNvSpPr>
            <a:spLocks noGrp="1"/>
          </p:cNvSpPr>
          <p:nvPr/>
        </p:nvSpPr>
        <p:spPr>
          <a:xfrm>
            <a:off x="400050" y="257175"/>
            <a:ext cx="11391900" cy="552450"/>
          </a:xfrm>
          <a:prstGeom prst="rect">
            <a:avLst/>
          </a:prstGeom>
          <a:noFill/>
          <a:ln w="0">
            <a:noFill/>
            <a:prstDash val="solid"/>
          </a:ln>
        </p:spPr>
        <p:txBody>
          <a:bodyPr wrap="square" lIns="0" tIns="0" rIns="0" bIns="0" anchor="t">
            <a:noAutofit/>
          </a:bodyPr>
          <a:lstStyle/>
          <a:p>
            <a:pPr algn="l">
              <a:buNone/>
              <a:defRPr sz="3525" b="1">
                <a:solidFill>
                  <a:srgbClr val="111111"/>
                </a:solidFill>
                <a:latin typeface="Helvetica Neue" panose="02000503000000020004"/>
                <a:ea typeface="Helvetica Neue" panose="02000503000000020004"/>
                <a:cs typeface="Helvetica Neue" panose="02000503000000020004"/>
              </a:defRPr>
            </a:pPr>
            <a:r>
              <a:rPr sz="3525" b="1">
                <a:solidFill>
                  <a:srgbClr val="111111"/>
                </a:solidFill>
                <a:latin typeface="Helvetica Neue" panose="02000503000000020004"/>
                <a:ea typeface="Helvetica Neue" panose="02000503000000020004"/>
                <a:cs typeface="Helvetica Neue" panose="02000503000000020004"/>
              </a:rPr>
              <a:t>Seasonality is captured, but peaks are missed</a:t>
            </a:r>
            <a:endParaRPr sz="3525" b="1">
              <a:solidFill>
                <a:srgbClr val="111111"/>
              </a:solidFill>
              <a:latin typeface="Helvetica Neue" panose="02000503000000020004"/>
              <a:ea typeface="Helvetica Neue" panose="02000503000000020004"/>
              <a:cs typeface="Helvetica Neue" panose="02000503000000020004"/>
            </a:endParaRPr>
          </a:p>
        </p:txBody>
      </p:sp>
      <p:sp>
        <p:nvSpPr>
          <p:cNvPr id="2" name="slide-4-number"/>
          <p:cNvSpPr>
            <a:spLocks noGrp="1"/>
          </p:cNvSpPr>
          <p:nvPr/>
        </p:nvSpPr>
        <p:spPr>
          <a:xfrm>
            <a:off x="11334750" y="6496050"/>
            <a:ext cx="457200" cy="190500"/>
          </a:xfrm>
          <a:prstGeom prst="rect">
            <a:avLst/>
          </a:prstGeom>
          <a:noFill/>
          <a:ln w="0">
            <a:noFill/>
            <a:prstDash val="solid"/>
          </a:ln>
        </p:spPr>
        <p:txBody>
          <a:bodyPr wrap="square" lIns="0" tIns="0" rIns="0" bIns="0" anchor="b">
            <a:noAutofit/>
          </a:bodyPr>
          <a:lstStyle/>
          <a:p>
            <a:pPr algn="r">
              <a:buNone/>
              <a:defRPr sz="1050">
                <a:solidFill>
                  <a:srgbClr val="666666"/>
                </a:solidFill>
                <a:latin typeface="Helvetica Neue" panose="02000503000000020004"/>
                <a:ea typeface="Helvetica Neue" panose="02000503000000020004"/>
                <a:cs typeface="Helvetica Neue" panose="02000503000000020004"/>
              </a:defRPr>
            </a:pPr>
            <a:r>
              <a:rPr sz="1050">
                <a:solidFill>
                  <a:srgbClr val="666666"/>
                </a:solidFill>
                <a:latin typeface="Helvetica Neue" panose="02000503000000020004"/>
                <a:ea typeface="Helvetica Neue" panose="02000503000000020004"/>
                <a:cs typeface="Helvetica Neue" panose="02000503000000020004"/>
              </a:rPr>
              <a:t>4</a:t>
            </a:r>
            <a:endParaRPr sz="1050">
              <a:solidFill>
                <a:srgbClr val="666666"/>
              </a:solidFill>
              <a:latin typeface="Helvetica Neue" panose="02000503000000020004"/>
              <a:ea typeface="Helvetica Neue" panose="02000503000000020004"/>
              <a:cs typeface="Helvetica Neue" panose="02000503000000020004"/>
            </a:endParaRPr>
          </a:p>
        </p:txBody>
      </p:sp>
      <p:sp>
        <p:nvSpPr>
          <p:cNvPr id="3" name="Observed and predicted citywide totals in 2023-frame"/>
          <p:cNvSpPr>
            <a:spLocks noGrp="1"/>
          </p:cNvSpPr>
          <p:nvPr/>
        </p:nvSpPr>
        <p:spPr>
          <a:xfrm>
            <a:off x="390525" y="1000125"/>
            <a:ext cx="5562600" cy="3343275"/>
          </a:xfrm>
          <a:prstGeom prst="rect">
            <a:avLst/>
          </a:prstGeom>
          <a:solidFill>
            <a:srgbClr val="FFFFFF"/>
          </a:solidFill>
          <a:ln w="9525">
            <a:solidFill>
              <a:srgbClr val="DDDDDD"/>
            </a:solidFill>
            <a:prstDash val="solid"/>
          </a:ln>
        </p:spPr>
      </p:sp>
      <p:pic>
        <p:nvPicPr>
          <p:cNvPr id="19" name="图片 15"/>
          <p:cNvPicPr>
            <a:picLocks noChangeAspect="1"/>
          </p:cNvPicPr>
          <p:nvPr/>
        </p:nvPicPr>
        <p:blipFill>
          <a:blip r:embed="rId1"/>
          <a:stretch>
            <a:fillRect/>
          </a:stretch>
        </p:blipFill>
        <p:spPr>
          <a:xfrm>
            <a:off x="401637" y="1009650"/>
            <a:ext cx="5540375" cy="3324225"/>
          </a:xfrm>
          <a:prstGeom prst="rect">
            <a:avLst/>
          </a:prstGeom>
        </p:spPr>
      </p:pic>
      <p:sp>
        <p:nvSpPr>
          <p:cNvPr id="5" name="Spatial distribution of 2023 residuals-frame"/>
          <p:cNvSpPr>
            <a:spLocks noGrp="1"/>
          </p:cNvSpPr>
          <p:nvPr/>
        </p:nvSpPr>
        <p:spPr>
          <a:xfrm>
            <a:off x="6238875" y="1000125"/>
            <a:ext cx="5562600" cy="3343275"/>
          </a:xfrm>
          <a:prstGeom prst="rect">
            <a:avLst/>
          </a:prstGeom>
          <a:solidFill>
            <a:srgbClr val="FFFFFF"/>
          </a:solidFill>
          <a:ln w="9525">
            <a:solidFill>
              <a:srgbClr val="DDDDDD"/>
            </a:solidFill>
            <a:prstDash val="solid"/>
          </a:ln>
        </p:spPr>
      </p:sp>
      <p:pic>
        <p:nvPicPr>
          <p:cNvPr id="21" name="图片 17"/>
          <p:cNvPicPr>
            <a:picLocks noChangeAspect="1"/>
          </p:cNvPicPr>
          <p:nvPr/>
        </p:nvPicPr>
        <p:blipFill>
          <a:blip r:embed="rId2"/>
          <a:stretch>
            <a:fillRect/>
          </a:stretch>
        </p:blipFill>
        <p:spPr>
          <a:xfrm>
            <a:off x="6249988" y="1009650"/>
            <a:ext cx="5540375" cy="3324225"/>
          </a:xfrm>
          <a:prstGeom prst="rect">
            <a:avLst/>
          </a:prstGeom>
        </p:spPr>
      </p:pic>
      <p:sp>
        <p:nvSpPr>
          <p:cNvPr id="7" name="slide-4-conclusion-background"/>
          <p:cNvSpPr>
            <a:spLocks noGrp="1"/>
          </p:cNvSpPr>
          <p:nvPr/>
        </p:nvSpPr>
        <p:spPr>
          <a:xfrm>
            <a:off x="400050" y="4572000"/>
            <a:ext cx="5543550" cy="1504950"/>
          </a:xfrm>
          <a:prstGeom prst="rect">
            <a:avLst/>
          </a:prstGeom>
          <a:solidFill>
            <a:srgbClr val="DCEFF0"/>
          </a:solidFill>
          <a:ln w="0">
            <a:noFill/>
            <a:prstDash val="solid"/>
          </a:ln>
        </p:spPr>
      </p:sp>
      <p:sp>
        <p:nvSpPr>
          <p:cNvPr id="8" name="slide-4-conclusion-header"/>
          <p:cNvSpPr>
            <a:spLocks noGrp="1"/>
          </p:cNvSpPr>
          <p:nvPr/>
        </p:nvSpPr>
        <p:spPr>
          <a:xfrm>
            <a:off x="647700" y="4772025"/>
            <a:ext cx="2857500" cy="228600"/>
          </a:xfrm>
          <a:prstGeom prst="rect">
            <a:avLst/>
          </a:prstGeom>
          <a:noFill/>
          <a:ln w="0">
            <a:noFill/>
            <a:prstDash val="solid"/>
          </a:ln>
        </p:spPr>
        <p:txBody>
          <a:bodyPr wrap="square" lIns="0" tIns="0" rIns="0" bIns="0" anchor="t">
            <a:noAutofit/>
          </a:bodyPr>
          <a:lstStyle/>
          <a:p>
            <a:pPr algn="l">
              <a:buNone/>
              <a:defRPr sz="1275" b="1">
                <a:solidFill>
                  <a:srgbClr val="0B7479"/>
                </a:solidFill>
                <a:latin typeface="Helvetica Neue" panose="02000503000000020004"/>
                <a:ea typeface="Helvetica Neue" panose="02000503000000020004"/>
                <a:cs typeface="Helvetica Neue" panose="02000503000000020004"/>
              </a:defRPr>
            </a:pPr>
            <a:r>
              <a:rPr sz="1275" b="1">
                <a:solidFill>
                  <a:srgbClr val="0B7479"/>
                </a:solidFill>
                <a:latin typeface="Helvetica Neue" panose="02000503000000020004"/>
                <a:ea typeface="Helvetica Neue" panose="02000503000000020004"/>
                <a:cs typeface="Helvetica Neue" panose="02000503000000020004"/>
              </a:rPr>
              <a:t>WHAT THE MODEL GETS RIGHT</a:t>
            </a:r>
            <a:endParaRPr sz="1275" b="1">
              <a:solidFill>
                <a:srgbClr val="0B7479"/>
              </a:solidFill>
              <a:latin typeface="Helvetica Neue" panose="02000503000000020004"/>
              <a:ea typeface="Helvetica Neue" panose="02000503000000020004"/>
              <a:cs typeface="Helvetica Neue" panose="02000503000000020004"/>
            </a:endParaRPr>
          </a:p>
        </p:txBody>
      </p:sp>
      <p:sp>
        <p:nvSpPr>
          <p:cNvPr id="9" name="slide-4-conclusions"/>
          <p:cNvSpPr>
            <a:spLocks noGrp="1"/>
          </p:cNvSpPr>
          <p:nvPr/>
        </p:nvSpPr>
        <p:spPr>
          <a:xfrm>
            <a:off x="647700" y="5086350"/>
            <a:ext cx="4972050" cy="781050"/>
          </a:xfrm>
          <a:prstGeom prst="rect">
            <a:avLst/>
          </a:prstGeom>
          <a:noFill/>
          <a:ln w="0">
            <a:noFill/>
            <a:prstDash val="solid"/>
          </a:ln>
        </p:spPr>
        <p:txBody>
          <a:bodyPr wrap="square" lIns="0" tIns="0" rIns="0" bIns="0" anchor="t">
            <a:normAutofit fontScale="85417"/>
          </a:bodyPr>
          <a:lstStyle/>
          <a:p>
            <a:pPr algn="l">
              <a:buNone/>
              <a:defRPr sz="1500" b="1">
                <a:solidFill>
                  <a:srgbClr val="111111"/>
                </a:solidFill>
                <a:latin typeface="Helvetica Neue" panose="02000503000000020004"/>
                <a:ea typeface="Helvetica Neue" panose="02000503000000020004"/>
                <a:cs typeface="Helvetica Neue" panose="02000503000000020004"/>
              </a:defRPr>
            </a:pPr>
            <a:r>
              <a:rPr sz="1500" b="1">
                <a:solidFill>
                  <a:srgbClr val="111111"/>
                </a:solidFill>
                <a:latin typeface="Helvetica Neue" panose="02000503000000020004"/>
                <a:ea typeface="Helvetica Neue" panose="02000503000000020004"/>
                <a:cs typeface="Helvetica Neue" panose="02000503000000020004"/>
              </a:rPr>
              <a:t>Basis Ridge: 26.8% lower RMSE vs neighbourhood-mean baseline</a:t>
            </a:r>
            <a:endParaRPr sz="1500" b="1">
              <a:solidFill>
                <a:srgbClr val="111111"/>
              </a:solidFill>
              <a:latin typeface="Helvetica Neue" panose="02000503000000020004"/>
              <a:ea typeface="Helvetica Neue" panose="02000503000000020004"/>
              <a:cs typeface="Helvetica Neue" panose="02000503000000020004"/>
            </a:endParaRPr>
          </a:p>
          <a:p>
            <a:pPr algn="l">
              <a:buNone/>
              <a:defRPr sz="1500" b="1">
                <a:solidFill>
                  <a:srgbClr val="111111"/>
                </a:solidFill>
                <a:latin typeface="Helvetica Neue" panose="02000503000000020004"/>
                <a:ea typeface="Helvetica Neue" panose="02000503000000020004"/>
                <a:cs typeface="Helvetica Neue" panose="02000503000000020004"/>
              </a:defRPr>
            </a:pPr>
            <a:r>
              <a:rPr sz="1500" b="1">
                <a:solidFill>
                  <a:srgbClr val="111111"/>
                </a:solidFill>
                <a:latin typeface="Helvetica Neue" panose="02000503000000020004"/>
                <a:ea typeface="Helvetica Neue" panose="02000503000000020004"/>
                <a:cs typeface="Helvetica Neue" panose="02000503000000020004"/>
              </a:rPr>
              <a:t>Seasonal rise and fall are reproduced</a:t>
            </a:r>
            <a:endParaRPr sz="1500" b="1">
              <a:solidFill>
                <a:srgbClr val="111111"/>
              </a:solidFill>
              <a:latin typeface="Helvetica Neue" panose="02000503000000020004"/>
              <a:ea typeface="Helvetica Neue" panose="02000503000000020004"/>
              <a:cs typeface="Helvetica Neue" panose="02000503000000020004"/>
            </a:endParaRPr>
          </a:p>
          <a:p>
            <a:pPr algn="l">
              <a:buNone/>
              <a:defRPr sz="1500" b="1">
                <a:solidFill>
                  <a:srgbClr val="111111"/>
                </a:solidFill>
                <a:latin typeface="Helvetica Neue" panose="02000503000000020004"/>
                <a:ea typeface="Helvetica Neue" panose="02000503000000020004"/>
                <a:cs typeface="Helvetica Neue" panose="02000503000000020004"/>
              </a:defRPr>
            </a:pPr>
            <a:r>
              <a:rPr sz="1500" b="1">
                <a:solidFill>
                  <a:srgbClr val="111111"/>
                </a:solidFill>
                <a:latin typeface="Helvetica Neue" panose="02000503000000020004"/>
                <a:ea typeface="Helvetica Neue" panose="02000503000000020004"/>
                <a:cs typeface="Helvetica Neue" panose="02000503000000020004"/>
              </a:rPr>
              <a:t>Largest positive errors remain near downtown hotspots</a:t>
            </a:r>
            <a:endParaRPr sz="1500" b="1">
              <a:solidFill>
                <a:srgbClr val="111111"/>
              </a:solidFill>
              <a:latin typeface="Helvetica Neue" panose="02000503000000020004"/>
              <a:ea typeface="Helvetica Neue" panose="02000503000000020004"/>
              <a:cs typeface="Helvetica Neue" panose="02000503000000020004"/>
            </a:endParaRPr>
          </a:p>
        </p:txBody>
      </p:sp>
      <p:sp>
        <p:nvSpPr>
          <p:cNvPr id="10" name="slide-4-limitations-background"/>
          <p:cNvSpPr>
            <a:spLocks noGrp="1"/>
          </p:cNvSpPr>
          <p:nvPr/>
        </p:nvSpPr>
        <p:spPr>
          <a:xfrm>
            <a:off x="6248400" y="4572000"/>
            <a:ext cx="5543550" cy="1504950"/>
          </a:xfrm>
          <a:prstGeom prst="rect">
            <a:avLst/>
          </a:prstGeom>
          <a:solidFill>
            <a:srgbClr val="F2F2F2"/>
          </a:solidFill>
          <a:ln w="0">
            <a:noFill/>
            <a:prstDash val="solid"/>
          </a:ln>
        </p:spPr>
      </p:sp>
      <p:sp>
        <p:nvSpPr>
          <p:cNvPr id="11" name="slide-4-limitations-header"/>
          <p:cNvSpPr>
            <a:spLocks noGrp="1"/>
          </p:cNvSpPr>
          <p:nvPr/>
        </p:nvSpPr>
        <p:spPr>
          <a:xfrm>
            <a:off x="6496050" y="4772025"/>
            <a:ext cx="3048000" cy="228600"/>
          </a:xfrm>
          <a:prstGeom prst="rect">
            <a:avLst/>
          </a:prstGeom>
          <a:noFill/>
          <a:ln w="0">
            <a:noFill/>
            <a:prstDash val="solid"/>
          </a:ln>
        </p:spPr>
        <p:txBody>
          <a:bodyPr wrap="square" lIns="0" tIns="0" rIns="0" bIns="0" anchor="t">
            <a:noAutofit/>
          </a:bodyPr>
          <a:lstStyle/>
          <a:p>
            <a:pPr algn="l">
              <a:buNone/>
              <a:defRPr sz="1275" b="1">
                <a:solidFill>
                  <a:srgbClr val="425466"/>
                </a:solidFill>
                <a:latin typeface="Helvetica Neue" panose="02000503000000020004"/>
                <a:ea typeface="Helvetica Neue" panose="02000503000000020004"/>
                <a:cs typeface="Helvetica Neue" panose="02000503000000020004"/>
              </a:defRPr>
            </a:pPr>
            <a:r>
              <a:rPr sz="1275" b="1">
                <a:solidFill>
                  <a:srgbClr val="425466"/>
                </a:solidFill>
                <a:latin typeface="Helvetica Neue" panose="02000503000000020004"/>
                <a:ea typeface="Helvetica Neue" panose="02000503000000020004"/>
                <a:cs typeface="Helvetica Neue" panose="02000503000000020004"/>
              </a:rPr>
              <a:t>LIMITS ON INTERPRETATION</a:t>
            </a:r>
            <a:endParaRPr sz="1275" b="1">
              <a:solidFill>
                <a:srgbClr val="425466"/>
              </a:solidFill>
              <a:latin typeface="Helvetica Neue" panose="02000503000000020004"/>
              <a:ea typeface="Helvetica Neue" panose="02000503000000020004"/>
              <a:cs typeface="Helvetica Neue" panose="02000503000000020004"/>
            </a:endParaRPr>
          </a:p>
        </p:txBody>
      </p:sp>
      <p:sp>
        <p:nvSpPr>
          <p:cNvPr id="12" name="slide-4-limitations"/>
          <p:cNvSpPr>
            <a:spLocks noGrp="1"/>
          </p:cNvSpPr>
          <p:nvPr/>
        </p:nvSpPr>
        <p:spPr>
          <a:xfrm>
            <a:off x="6496050" y="5086350"/>
            <a:ext cx="4972050" cy="781050"/>
          </a:xfrm>
          <a:prstGeom prst="rect">
            <a:avLst/>
          </a:prstGeom>
          <a:noFill/>
          <a:ln w="0">
            <a:noFill/>
            <a:prstDash val="solid"/>
          </a:ln>
        </p:spPr>
        <p:txBody>
          <a:bodyPr wrap="square" lIns="0" tIns="0" rIns="0" bIns="0" anchor="t">
            <a:normAutofit fontScale="95192"/>
          </a:bodyPr>
          <a:lstStyle/>
          <a:p>
            <a:pPr algn="l">
              <a:buNone/>
              <a:defRPr sz="1500">
                <a:solidFill>
                  <a:srgbClr val="111111"/>
                </a:solidFill>
                <a:latin typeface="Helvetica Neue" panose="02000503000000020004"/>
                <a:ea typeface="Helvetica Neue" panose="02000503000000020004"/>
                <a:cs typeface="Helvetica Neue" panose="02000503000000020004"/>
              </a:defRPr>
            </a:pPr>
            <a:r>
              <a:rPr sz="1500">
                <a:solidFill>
                  <a:srgbClr val="111111"/>
                </a:solidFill>
                <a:latin typeface="Helvetica Neue" panose="02000503000000020004"/>
                <a:ea typeface="Helvetica Neue" panose="02000503000000020004"/>
                <a:cs typeface="Helvetica Neue" panose="02000503000000020004"/>
              </a:rPr>
              <a:t>Reported incidents only; monthly neighbourhood aggregation</a:t>
            </a:r>
            <a:endParaRPr sz="1500">
              <a:solidFill>
                <a:srgbClr val="111111"/>
              </a:solidFill>
              <a:latin typeface="Helvetica Neue" panose="02000503000000020004"/>
              <a:ea typeface="Helvetica Neue" panose="02000503000000020004"/>
              <a:cs typeface="Helvetica Neue" panose="02000503000000020004"/>
            </a:endParaRPr>
          </a:p>
          <a:p>
            <a:pPr algn="l">
              <a:buNone/>
              <a:defRPr sz="1500">
                <a:solidFill>
                  <a:srgbClr val="111111"/>
                </a:solidFill>
                <a:latin typeface="Helvetica Neue" panose="02000503000000020004"/>
                <a:ea typeface="Helvetica Neue" panose="02000503000000020004"/>
                <a:cs typeface="Helvetica Neue" panose="02000503000000020004"/>
              </a:defRPr>
            </a:pPr>
            <a:r>
              <a:rPr sz="1500">
                <a:solidFill>
                  <a:srgbClr val="111111"/>
                </a:solidFill>
                <a:latin typeface="Helvetica Neue" panose="02000503000000020004"/>
                <a:ea typeface="Helvetica Neue" panose="02000503000000020004"/>
                <a:cs typeface="Helvetica Neue" panose="02000503000000020004"/>
              </a:rPr>
              <a:t>No weather, cycling exposure, land use or policing covariates</a:t>
            </a:r>
            <a:endParaRPr sz="1500">
              <a:solidFill>
                <a:srgbClr val="111111"/>
              </a:solidFill>
              <a:latin typeface="Helvetica Neue" panose="02000503000000020004"/>
              <a:ea typeface="Helvetica Neue" panose="02000503000000020004"/>
              <a:cs typeface="Helvetica Neue" panose="02000503000000020004"/>
            </a:endParaRPr>
          </a:p>
          <a:p>
            <a:pPr algn="l">
              <a:buNone/>
              <a:defRPr sz="1500">
                <a:solidFill>
                  <a:srgbClr val="111111"/>
                </a:solidFill>
                <a:latin typeface="Helvetica Neue" panose="02000503000000020004"/>
                <a:ea typeface="Helvetica Neue" panose="02000503000000020004"/>
                <a:cs typeface="Helvetica Neue" panose="02000503000000020004"/>
              </a:defRPr>
            </a:pPr>
            <a:r>
              <a:rPr sz="1500">
                <a:solidFill>
                  <a:srgbClr val="111111"/>
                </a:solidFill>
                <a:latin typeface="Helvetica Neue" panose="02000503000000020004"/>
                <a:ea typeface="Helvetica Neue" panose="02000503000000020004"/>
                <a:cs typeface="Helvetica Neue" panose="02000503000000020004"/>
              </a:rPr>
              <a:t>Association and prediction—not causality</a:t>
            </a:r>
            <a:endParaRPr sz="1500">
              <a:solidFill>
                <a:srgbClr val="111111"/>
              </a:solidFill>
              <a:latin typeface="Helvetica Neue" panose="02000503000000020004"/>
              <a:ea typeface="Helvetica Neue" panose="02000503000000020004"/>
              <a:cs typeface="Helvetica Neue" panose="02000503000000020004"/>
            </a:endParaRPr>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 name="KSO_WM_UNIT_MEDIACOVER_BTNRECT" val="0*0*0*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1480</Words>
  <Application>WPS 表格</Application>
  <PresentationFormat>Converted Presentation</PresentationFormat>
  <Paragraphs>59</Paragraphs>
  <Slides>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vt:i4>
      </vt:variant>
    </vt:vector>
  </HeadingPairs>
  <TitlesOfParts>
    <vt:vector size="17" baseType="lpstr">
      <vt:lpstr>Arial</vt:lpstr>
      <vt:lpstr>宋体</vt:lpstr>
      <vt:lpstr>Wingdings</vt:lpstr>
      <vt:lpstr>Helvetica Neue</vt:lpstr>
      <vt:lpstr>Calibri</vt:lpstr>
      <vt:lpstr>Helvetica Neue</vt:lpstr>
      <vt:lpstr>微软雅黑</vt:lpstr>
      <vt:lpstr>方正雅意黑 GB18030L2</vt:lpstr>
      <vt:lpstr>宋体</vt:lpstr>
      <vt:lpstr>Arial Unicode MS</vt:lpstr>
      <vt:lpstr>汉仪书宋二KW</vt:lpstr>
      <vt:lpstr>华文仿宋</vt:lpstr>
      <vt:lpstr>ChatGPT</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liumingyuan</cp:lastModifiedBy>
  <cp:revision>3</cp:revision>
  <dcterms:created xsi:type="dcterms:W3CDTF">2026-07-30T01:51:31Z</dcterms:created>
  <dcterms:modified xsi:type="dcterms:W3CDTF">2026-07-30T01:51:31Z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3EB59FF9F2C2ADE30DAD6A6A82AEDAAA_42</vt:lpwstr>
  </property>
</Properties>
</file>